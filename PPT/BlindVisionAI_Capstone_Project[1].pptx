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6"/>
  </p:notesMasterIdLst>
  <p:sldIdLst>
    <p:sldId id="292" r:id="rId5"/>
    <p:sldId id="257" r:id="rId6"/>
    <p:sldId id="343" r:id="rId7"/>
    <p:sldId id="344" r:id="rId8"/>
    <p:sldId id="345" r:id="rId9"/>
    <p:sldId id="346" r:id="rId10"/>
    <p:sldId id="347" r:id="rId11"/>
    <p:sldId id="348" r:id="rId12"/>
    <p:sldId id="349" r:id="rId13"/>
    <p:sldId id="350" r:id="rId14"/>
    <p:sldId id="342"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40" userDrawn="1">
          <p15:clr>
            <a:srgbClr val="A4A3A4"/>
          </p15:clr>
        </p15:guide>
        <p15:guide id="2" pos="144"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7"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1910"/>
    <a:srgbClr val="223366"/>
    <a:srgbClr val="0000FF"/>
    <a:srgbClr val="0000A8"/>
    <a:srgbClr val="FFD5D5"/>
    <a:srgbClr val="DDE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guide orient="horz" pos="540"/>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51" Type="http://schemas.openxmlformats.org/officeDocument/2006/relationships/tableStyles" Target="tableStyles.xml"/><Relationship Id="rId3" Type="http://schemas.openxmlformats.org/officeDocument/2006/relationships/customXml" Target="../customXml/item3.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49"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a:latin typeface="Calibri"/>
              <a:cs typeface="Calibri"/>
            </a:endParaRPr>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pPr algn="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9441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a:lnSpc>
                <a:spcPct val="100000"/>
              </a:lnSpc>
              <a:tabLst>
                <a:tab pos="0" algn="l"/>
              </a:tabLst>
            </a:pPr>
            <a:endParaRPr lang="en-US" sz="2000" b="0" strike="noStrike" spc="-1">
              <a:latin typeface="Arial"/>
            </a:endParaRP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pPr algn="r">
                <a:lnSpc>
                  <a:spcPct val="100000"/>
                </a:lnSpc>
              </a:pPr>
              <a:t>11</a:t>
            </a:fld>
            <a:endParaRPr lang="en-US" sz="1200" b="0" strike="noStrike" spc="-1">
              <a:latin typeface="Times New Roman"/>
            </a:endParaRPr>
          </a:p>
        </p:txBody>
      </p:sp>
    </p:spTree>
    <p:extLst>
      <p:ext uri="{BB962C8B-B14F-4D97-AF65-F5344CB8AC3E}">
        <p14:creationId xmlns:p14="http://schemas.microsoft.com/office/powerpoint/2010/main" val="1353140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189" lvl="0" indent="-317492" algn="l">
              <a:lnSpc>
                <a:spcPct val="115000"/>
              </a:lnSpc>
              <a:spcBef>
                <a:spcPts val="0"/>
              </a:spcBef>
              <a:spcAft>
                <a:spcPts val="0"/>
              </a:spcAft>
              <a:buSzPts val="1400"/>
              <a:buChar char="●"/>
              <a:defRPr sz="14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189" lvl="0" indent="-317492" algn="l">
              <a:lnSpc>
                <a:spcPct val="115000"/>
              </a:lnSpc>
              <a:spcBef>
                <a:spcPts val="0"/>
              </a:spcBef>
              <a:spcAft>
                <a:spcPts val="0"/>
              </a:spcAft>
              <a:buSzPts val="1400"/>
              <a:buChar char="●"/>
              <a:defRPr sz="14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189" lvl="0" indent="-304793" algn="l">
              <a:lnSpc>
                <a:spcPct val="115000"/>
              </a:lnSpc>
              <a:spcBef>
                <a:spcPts val="0"/>
              </a:spcBef>
              <a:spcAft>
                <a:spcPts val="0"/>
              </a:spcAft>
              <a:buSzPts val="1200"/>
              <a:buChar char="●"/>
              <a:defRPr sz="12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189" lvl="0" indent="-342892" algn="l">
              <a:lnSpc>
                <a:spcPct val="115000"/>
              </a:lnSpc>
              <a:spcBef>
                <a:spcPts val="0"/>
              </a:spcBef>
              <a:spcAft>
                <a:spcPts val="0"/>
              </a:spcAft>
              <a:buSzPts val="1800"/>
              <a:buChar char="●"/>
              <a:defRPr/>
            </a:lvl1pPr>
            <a:lvl2pPr marL="914378" lvl="1" indent="-317492" algn="l">
              <a:lnSpc>
                <a:spcPct val="115000"/>
              </a:lnSpc>
              <a:spcBef>
                <a:spcPts val="1600"/>
              </a:spcBef>
              <a:spcAft>
                <a:spcPts val="0"/>
              </a:spcAft>
              <a:buSzPts val="1400"/>
              <a:buChar char="○"/>
              <a:defRPr/>
            </a:lvl2pPr>
            <a:lvl3pPr marL="1371566" lvl="2" indent="-317492" algn="l">
              <a:lnSpc>
                <a:spcPct val="115000"/>
              </a:lnSpc>
              <a:spcBef>
                <a:spcPts val="1600"/>
              </a:spcBef>
              <a:spcAft>
                <a:spcPts val="0"/>
              </a:spcAft>
              <a:buSzPts val="1400"/>
              <a:buChar char="■"/>
              <a:defRPr/>
            </a:lvl3pPr>
            <a:lvl4pPr marL="1828754" lvl="3" indent="-317492" algn="l">
              <a:lnSpc>
                <a:spcPct val="115000"/>
              </a:lnSpc>
              <a:spcBef>
                <a:spcPts val="1600"/>
              </a:spcBef>
              <a:spcAft>
                <a:spcPts val="0"/>
              </a:spcAft>
              <a:buSzPts val="1400"/>
              <a:buChar char="●"/>
              <a:defRPr/>
            </a:lvl4pPr>
            <a:lvl5pPr marL="2285943" lvl="4" indent="-317492" algn="l">
              <a:lnSpc>
                <a:spcPct val="115000"/>
              </a:lnSpc>
              <a:spcBef>
                <a:spcPts val="1600"/>
              </a:spcBef>
              <a:spcAft>
                <a:spcPts val="0"/>
              </a:spcAft>
              <a:buSzPts val="1400"/>
              <a:buChar char="○"/>
              <a:defRPr/>
            </a:lvl5pPr>
            <a:lvl6pPr marL="2743132" lvl="5" indent="-317492" algn="l">
              <a:lnSpc>
                <a:spcPct val="115000"/>
              </a:lnSpc>
              <a:spcBef>
                <a:spcPts val="1600"/>
              </a:spcBef>
              <a:spcAft>
                <a:spcPts val="0"/>
              </a:spcAft>
              <a:buSzPts val="1400"/>
              <a:buChar char="■"/>
              <a:defRPr/>
            </a:lvl6pPr>
            <a:lvl7pPr marL="3200320" lvl="6" indent="-317492" algn="l">
              <a:lnSpc>
                <a:spcPct val="115000"/>
              </a:lnSpc>
              <a:spcBef>
                <a:spcPts val="1600"/>
              </a:spcBef>
              <a:spcAft>
                <a:spcPts val="0"/>
              </a:spcAft>
              <a:buSzPts val="1400"/>
              <a:buChar char="●"/>
              <a:defRPr/>
            </a:lvl7pPr>
            <a:lvl8pPr marL="3657509" lvl="7" indent="-317492" algn="l">
              <a:lnSpc>
                <a:spcPct val="115000"/>
              </a:lnSpc>
              <a:spcBef>
                <a:spcPts val="1600"/>
              </a:spcBef>
              <a:spcAft>
                <a:spcPts val="0"/>
              </a:spcAft>
              <a:buSzPts val="1400"/>
              <a:buChar char="○"/>
              <a:defRPr/>
            </a:lvl8pPr>
            <a:lvl9pPr marL="4114697" lvl="8" indent="-317492" algn="l">
              <a:lnSpc>
                <a:spcPct val="115000"/>
              </a:lnSpc>
              <a:spcBef>
                <a:spcPts val="1600"/>
              </a:spcBef>
              <a:spcAft>
                <a:spcPts val="1600"/>
              </a:spcAft>
              <a:buSzPts val="1400"/>
              <a:buChar char="■"/>
              <a:defRPr/>
            </a:lvl9pPr>
          </a:lstStyle>
          <a:p>
            <a:endParaRPr/>
          </a:p>
        </p:txBody>
      </p:sp>
      <p:sp>
        <p:nvSpPr>
          <p:cNvPr id="40" name="Google Shape;40;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189" lvl="0" indent="-228594" algn="l">
              <a:lnSpc>
                <a:spcPct val="100000"/>
              </a:lnSpc>
              <a:spcBef>
                <a:spcPts val="0"/>
              </a:spcBef>
              <a:spcAft>
                <a:spcPts val="0"/>
              </a:spcAft>
              <a:buSzPts val="1800"/>
              <a:buNone/>
              <a:defRPr/>
            </a:lvl1pPr>
          </a:lstStyle>
          <a:p>
            <a:endParaRPr/>
          </a:p>
        </p:txBody>
      </p:sp>
      <p:sp>
        <p:nvSpPr>
          <p:cNvPr id="43" name="Google Shape;4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28560" y="273780"/>
            <a:ext cx="7886430" cy="99387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9" name="PlaceHolder 2"/>
          <p:cNvSpPr>
            <a:spLocks noGrp="1"/>
          </p:cNvSpPr>
          <p:nvPr>
            <p:ph type="subTitle"/>
          </p:nvPr>
        </p:nvSpPr>
        <p:spPr>
          <a:xfrm>
            <a:off x="457110" y="1203390"/>
            <a:ext cx="8229330" cy="2982960"/>
          </a:xfrm>
          <a:prstGeom prst="rect">
            <a:avLst/>
          </a:prstGeom>
        </p:spPr>
        <p:txBody>
          <a:bodyPr lIns="0" tIns="0" rIns="0" bIns="0" anchor="ctr">
            <a:noAutofit/>
          </a:bodyPr>
          <a:lstStyle/>
          <a:p>
            <a:pPr algn="ctr"/>
            <a:endParaRPr lang="en-US" sz="2400" b="0" strike="noStrike" spc="-1">
              <a:latin typeface="Arial"/>
            </a:endParaRPr>
          </a:p>
        </p:txBody>
      </p:sp>
    </p:spTree>
    <p:extLst>
      <p:ext uri="{BB962C8B-B14F-4D97-AF65-F5344CB8AC3E}">
        <p14:creationId xmlns:p14="http://schemas.microsoft.com/office/powerpoint/2010/main" val="536418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5" name="Google Shape;110;p4" descr="A close up of a sign&#10;&#10;Description automatically generated">
            <a:extLst>
              <a:ext uri="{FF2B5EF4-FFF2-40B4-BE49-F238E27FC236}">
                <a16:creationId xmlns:a16="http://schemas.microsoft.com/office/drawing/2014/main" id="{4D797CE1-B3BC-05B3-7EFB-77E24CA99EC4}"/>
              </a:ext>
            </a:extLst>
          </p:cNvPr>
          <p:cNvPicPr preferRelativeResize="0"/>
          <p:nvPr userDrawn="1"/>
        </p:nvPicPr>
        <p:blipFill rotWithShape="1">
          <a:blip r:embed="rId14">
            <a:alphaModFix/>
          </a:blip>
          <a:srcRect/>
          <a:stretch/>
        </p:blipFill>
        <p:spPr>
          <a:xfrm>
            <a:off x="5890576" y="50164"/>
            <a:ext cx="1226897" cy="410144"/>
          </a:xfrm>
          <a:prstGeom prst="rect">
            <a:avLst/>
          </a:prstGeom>
          <a:noFill/>
          <a:ln>
            <a:noFill/>
          </a:ln>
        </p:spPr>
      </p:pic>
      <p:pic>
        <p:nvPicPr>
          <p:cNvPr id="6" name="Picture 5">
            <a:extLst>
              <a:ext uri="{FF2B5EF4-FFF2-40B4-BE49-F238E27FC236}">
                <a16:creationId xmlns:a16="http://schemas.microsoft.com/office/drawing/2014/main" id="{63FDEA9A-3289-7724-A041-81BA7412446D}"/>
              </a:ext>
            </a:extLst>
          </p:cNvPr>
          <p:cNvPicPr>
            <a:picLocks noChangeAspect="1"/>
          </p:cNvPicPr>
          <p:nvPr userDrawn="1"/>
        </p:nvPicPr>
        <p:blipFill>
          <a:blip r:embed="rId15"/>
          <a:stretch>
            <a:fillRect/>
          </a:stretch>
        </p:blipFill>
        <p:spPr>
          <a:xfrm>
            <a:off x="8588173" y="44451"/>
            <a:ext cx="430886" cy="421570"/>
          </a:xfrm>
          <a:prstGeom prst="rect">
            <a:avLst/>
          </a:prstGeom>
        </p:spPr>
      </p:pic>
      <p:pic>
        <p:nvPicPr>
          <p:cNvPr id="7" name="Picture 6">
            <a:extLst>
              <a:ext uri="{FF2B5EF4-FFF2-40B4-BE49-F238E27FC236}">
                <a16:creationId xmlns:a16="http://schemas.microsoft.com/office/drawing/2014/main" id="{4FE9B430-F1A6-D15F-5325-A6ECC80544A3}"/>
              </a:ext>
            </a:extLst>
          </p:cNvPr>
          <p:cNvPicPr>
            <a:picLocks noChangeAspect="1"/>
          </p:cNvPicPr>
          <p:nvPr userDrawn="1"/>
        </p:nvPicPr>
        <p:blipFill>
          <a:blip r:embed="rId16"/>
          <a:stretch>
            <a:fillRect/>
          </a:stretch>
        </p:blipFill>
        <p:spPr>
          <a:xfrm>
            <a:off x="7448295" y="54435"/>
            <a:ext cx="606402" cy="401602"/>
          </a:xfrm>
          <a:prstGeom prst="rect">
            <a:avLst/>
          </a:prstGeom>
        </p:spPr>
      </p:pic>
      <p:cxnSp>
        <p:nvCxnSpPr>
          <p:cNvPr id="11" name="Straight Connector 10">
            <a:extLst>
              <a:ext uri="{FF2B5EF4-FFF2-40B4-BE49-F238E27FC236}">
                <a16:creationId xmlns:a16="http://schemas.microsoft.com/office/drawing/2014/main" id="{3A16F5E0-5700-9B75-900A-DACA5FE2B975}"/>
              </a:ext>
            </a:extLst>
          </p:cNvPr>
          <p:cNvCxnSpPr/>
          <p:nvPr userDrawn="1"/>
        </p:nvCxnSpPr>
        <p:spPr>
          <a:xfrm>
            <a:off x="7272997" y="44451"/>
            <a:ext cx="0" cy="411586"/>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4B73529-812D-C430-F6D0-F29A1FE550F2}"/>
              </a:ext>
            </a:extLst>
          </p:cNvPr>
          <p:cNvCxnSpPr/>
          <p:nvPr userDrawn="1"/>
        </p:nvCxnSpPr>
        <p:spPr>
          <a:xfrm>
            <a:off x="8328077" y="44451"/>
            <a:ext cx="0" cy="411586"/>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cSld>
  <p:clrMap bg1="lt1" tx1="dk1" bg2="dk2" tx2="lt2" accent1="accent1" accent2="accent2" accent3="accent3" accent4="accent4" accent5="accent5" accent6="accent6" hlink="hlink" folHlink="folHlink"/>
  <p:sldLayoutIdLst>
    <p:sldLayoutId id="2147483666" r:id="rId1"/>
    <p:sldLayoutId id="2147483667" r:id="rId2"/>
    <p:sldLayoutId id="2147483652" r:id="rId3"/>
    <p:sldLayoutId id="2147483653" r:id="rId4"/>
    <p:sldLayoutId id="2147483654" r:id="rId5"/>
    <p:sldLayoutId id="2147483668" r:id="rId6"/>
    <p:sldLayoutId id="2147483669" r:id="rId7"/>
    <p:sldLayoutId id="2147483670" r:id="rId8"/>
    <p:sldLayoutId id="2147483656" r:id="rId9"/>
    <p:sldLayoutId id="2147483657" r:id="rId10"/>
    <p:sldLayoutId id="2147483659" r:id="rId11"/>
    <p:sldLayoutId id="214748367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07EE478-C686-BEE8-D55A-706CA7E7474C}"/>
              </a:ext>
            </a:extLst>
          </p:cNvPr>
          <p:cNvPicPr>
            <a:picLocks noChangeAspect="1"/>
          </p:cNvPicPr>
          <p:nvPr/>
        </p:nvPicPr>
        <p:blipFill>
          <a:blip r:embed="rId3"/>
          <a:srcRect l="5562" r="5562"/>
          <a:stretch/>
        </p:blipFill>
        <p:spPr>
          <a:xfrm>
            <a:off x="1426" y="0"/>
            <a:ext cx="9142574" cy="5143500"/>
          </a:xfrm>
          <a:prstGeom prst="rect">
            <a:avLst/>
          </a:prstGeom>
        </p:spPr>
      </p:pic>
      <p:sp>
        <p:nvSpPr>
          <p:cNvPr id="10" name="TextShape 1">
            <a:extLst>
              <a:ext uri="{FF2B5EF4-FFF2-40B4-BE49-F238E27FC236}">
                <a16:creationId xmlns:a16="http://schemas.microsoft.com/office/drawing/2014/main" id="{813F2107-8C2D-9CA4-CD8E-ECCCD7EBECC8}"/>
              </a:ext>
            </a:extLst>
          </p:cNvPr>
          <p:cNvSpPr txBox="1"/>
          <p:nvPr/>
        </p:nvSpPr>
        <p:spPr>
          <a:xfrm>
            <a:off x="1240999" y="3077432"/>
            <a:ext cx="2087385" cy="425509"/>
          </a:xfrm>
          <a:prstGeom prst="rect">
            <a:avLst/>
          </a:prstGeom>
          <a:noFill/>
          <a:ln w="0">
            <a:noFill/>
          </a:ln>
        </p:spPr>
        <p:txBody>
          <a:bodyPr lIns="68580" tIns="34290" rIns="68580" bIns="34290" anchor="b">
            <a:noAutofit/>
          </a:bodyPr>
          <a:lstStyle/>
          <a:p>
            <a:pPr algn="ctr">
              <a:lnSpc>
                <a:spcPct val="90000"/>
              </a:lnSpc>
            </a:pPr>
            <a:r>
              <a:rPr lang="en-US" sz="2400" b="1" spc="-1" dirty="0">
                <a:solidFill>
                  <a:schemeClr val="bg1"/>
                </a:solidFill>
              </a:rPr>
              <a:t>Object Deduction</a:t>
            </a:r>
            <a:endParaRPr lang="en-US" sz="2400" spc="-1" dirty="0">
              <a:solidFill>
                <a:schemeClr val="bg1"/>
              </a:solidFill>
              <a:latin typeface="Calibri"/>
            </a:endParaRPr>
          </a:p>
          <a:p>
            <a:pPr algn="ctr">
              <a:lnSpc>
                <a:spcPct val="90000"/>
              </a:lnSpc>
            </a:pPr>
            <a:r>
              <a:rPr lang="en-US" sz="2500" spc="-1" dirty="0">
                <a:solidFill>
                  <a:schemeClr val="bg1"/>
                </a:solidFill>
                <a:latin typeface="Calibri"/>
              </a:rPr>
              <a:t>Team ID - 4895</a:t>
            </a:r>
          </a:p>
        </p:txBody>
      </p:sp>
      <p:sp>
        <p:nvSpPr>
          <p:cNvPr id="16" name="Rectangle 15">
            <a:extLst>
              <a:ext uri="{FF2B5EF4-FFF2-40B4-BE49-F238E27FC236}">
                <a16:creationId xmlns:a16="http://schemas.microsoft.com/office/drawing/2014/main" id="{5560471F-132C-DC05-DF57-C57BF5F94F99}"/>
              </a:ext>
            </a:extLst>
          </p:cNvPr>
          <p:cNvSpPr/>
          <p:nvPr/>
        </p:nvSpPr>
        <p:spPr>
          <a:xfrm>
            <a:off x="743414" y="1640947"/>
            <a:ext cx="2988527" cy="871317"/>
          </a:xfrm>
          <a:prstGeom prst="rect">
            <a:avLst/>
          </a:prstGeom>
          <a:solidFill>
            <a:schemeClr val="bg1"/>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oogle Shape;110;p4" descr="A close up of a sign&#10;&#10;Description automatically generated">
            <a:extLst>
              <a:ext uri="{FF2B5EF4-FFF2-40B4-BE49-F238E27FC236}">
                <a16:creationId xmlns:a16="http://schemas.microsoft.com/office/drawing/2014/main" id="{7F1DD211-B5CE-B07E-185D-B2D660A88249}"/>
              </a:ext>
            </a:extLst>
          </p:cNvPr>
          <p:cNvPicPr preferRelativeResize="0"/>
          <p:nvPr/>
        </p:nvPicPr>
        <p:blipFill rotWithShape="1">
          <a:blip r:embed="rId4">
            <a:alphaModFix/>
          </a:blip>
          <a:srcRect/>
          <a:stretch/>
        </p:blipFill>
        <p:spPr>
          <a:xfrm>
            <a:off x="815783" y="1971178"/>
            <a:ext cx="1050529" cy="294230"/>
          </a:xfrm>
          <a:prstGeom prst="rect">
            <a:avLst/>
          </a:prstGeom>
          <a:noFill/>
          <a:ln>
            <a:noFill/>
          </a:ln>
        </p:spPr>
      </p:pic>
      <p:pic>
        <p:nvPicPr>
          <p:cNvPr id="7" name="Picture 6">
            <a:extLst>
              <a:ext uri="{FF2B5EF4-FFF2-40B4-BE49-F238E27FC236}">
                <a16:creationId xmlns:a16="http://schemas.microsoft.com/office/drawing/2014/main" id="{4E9B16EB-4021-3DAD-87D7-8AADDA33F175}"/>
              </a:ext>
            </a:extLst>
          </p:cNvPr>
          <p:cNvPicPr>
            <a:picLocks noChangeAspect="1"/>
          </p:cNvPicPr>
          <p:nvPr/>
        </p:nvPicPr>
        <p:blipFill>
          <a:blip r:embed="rId5"/>
          <a:stretch>
            <a:fillRect/>
          </a:stretch>
        </p:blipFill>
        <p:spPr>
          <a:xfrm>
            <a:off x="3052197" y="1843398"/>
            <a:ext cx="485958" cy="475451"/>
          </a:xfrm>
          <a:prstGeom prst="rect">
            <a:avLst/>
          </a:prstGeom>
        </p:spPr>
      </p:pic>
      <p:pic>
        <p:nvPicPr>
          <p:cNvPr id="9" name="Picture 8">
            <a:extLst>
              <a:ext uri="{FF2B5EF4-FFF2-40B4-BE49-F238E27FC236}">
                <a16:creationId xmlns:a16="http://schemas.microsoft.com/office/drawing/2014/main" id="{600553CE-6B63-17CC-854E-76FF40B12CCD}"/>
              </a:ext>
            </a:extLst>
          </p:cNvPr>
          <p:cNvPicPr>
            <a:picLocks noChangeAspect="1"/>
          </p:cNvPicPr>
          <p:nvPr/>
        </p:nvPicPr>
        <p:blipFill>
          <a:blip r:embed="rId6"/>
          <a:stretch>
            <a:fillRect/>
          </a:stretch>
        </p:blipFill>
        <p:spPr>
          <a:xfrm>
            <a:off x="2115014" y="1919854"/>
            <a:ext cx="599270" cy="396879"/>
          </a:xfrm>
          <a:prstGeom prst="rect">
            <a:avLst/>
          </a:prstGeom>
        </p:spPr>
      </p:pic>
      <p:cxnSp>
        <p:nvCxnSpPr>
          <p:cNvPr id="12" name="Straight Connector 11">
            <a:extLst>
              <a:ext uri="{FF2B5EF4-FFF2-40B4-BE49-F238E27FC236}">
                <a16:creationId xmlns:a16="http://schemas.microsoft.com/office/drawing/2014/main" id="{3AE5AE47-CF4D-55BD-80ED-4ABE05325878}"/>
              </a:ext>
            </a:extLst>
          </p:cNvPr>
          <p:cNvCxnSpPr/>
          <p:nvPr/>
        </p:nvCxnSpPr>
        <p:spPr>
          <a:xfrm>
            <a:off x="1984914" y="1859664"/>
            <a:ext cx="0" cy="47545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EE501B5-345A-EB93-5880-D723D37DD07C}"/>
              </a:ext>
            </a:extLst>
          </p:cNvPr>
          <p:cNvCxnSpPr/>
          <p:nvPr/>
        </p:nvCxnSpPr>
        <p:spPr>
          <a:xfrm>
            <a:off x="2891880" y="1865133"/>
            <a:ext cx="0" cy="47545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4E88EE61-2242-CA77-5668-E4432A881B62}"/>
              </a:ext>
            </a:extLst>
          </p:cNvPr>
          <p:cNvSpPr txBox="1"/>
          <p:nvPr/>
        </p:nvSpPr>
        <p:spPr>
          <a:xfrm>
            <a:off x="5353235" y="3389174"/>
            <a:ext cx="3524435" cy="1231106"/>
          </a:xfrm>
          <a:prstGeom prst="rect">
            <a:avLst/>
          </a:prstGeom>
          <a:noFill/>
        </p:spPr>
        <p:txBody>
          <a:bodyPr wrap="square" rtlCol="0">
            <a:spAutoFit/>
          </a:bodyPr>
          <a:lstStyle/>
          <a:p>
            <a:r>
              <a:rPr lang="en-IN" sz="1600" dirty="0">
                <a:solidFill>
                  <a:schemeClr val="bg1"/>
                </a:solidFill>
              </a:rPr>
              <a:t>Mohammed </a:t>
            </a:r>
            <a:r>
              <a:rPr lang="en-IN" sz="1600" dirty="0" err="1">
                <a:solidFill>
                  <a:schemeClr val="bg1"/>
                </a:solidFill>
              </a:rPr>
              <a:t>Aman</a:t>
            </a:r>
            <a:r>
              <a:rPr lang="en-IN" sz="1600" dirty="0">
                <a:solidFill>
                  <a:schemeClr val="bg1"/>
                </a:solidFill>
              </a:rPr>
              <a:t> Uddin</a:t>
            </a:r>
          </a:p>
          <a:p>
            <a:r>
              <a:rPr lang="en-IN" sz="1600" dirty="0">
                <a:solidFill>
                  <a:schemeClr val="bg1"/>
                </a:solidFill>
              </a:rPr>
              <a:t>Mohammed </a:t>
            </a:r>
            <a:r>
              <a:rPr lang="en-IN" sz="1600" dirty="0" err="1">
                <a:solidFill>
                  <a:schemeClr val="bg1"/>
                </a:solidFill>
              </a:rPr>
              <a:t>Rasool</a:t>
            </a:r>
            <a:r>
              <a:rPr lang="en-IN" sz="1600" dirty="0">
                <a:solidFill>
                  <a:schemeClr val="bg1"/>
                </a:solidFill>
              </a:rPr>
              <a:t> </a:t>
            </a:r>
            <a:r>
              <a:rPr lang="en-IN" sz="1600" dirty="0" err="1">
                <a:solidFill>
                  <a:schemeClr val="bg1"/>
                </a:solidFill>
              </a:rPr>
              <a:t>Qureshi</a:t>
            </a:r>
            <a:endParaRPr lang="en-IN" sz="1600" dirty="0">
              <a:solidFill>
                <a:schemeClr val="bg1"/>
              </a:solidFill>
            </a:endParaRPr>
          </a:p>
          <a:p>
            <a:endParaRPr lang="en-IN" dirty="0">
              <a:solidFill>
                <a:schemeClr val="bg1"/>
              </a:solidFill>
            </a:endParaRPr>
          </a:p>
          <a:p>
            <a:endParaRPr lang="en-IN" dirty="0">
              <a:solidFill>
                <a:schemeClr val="bg1"/>
              </a:solidFill>
            </a:endParaRPr>
          </a:p>
          <a:p>
            <a:endParaRPr lang="en-IN" dirty="0"/>
          </a:p>
        </p:txBody>
      </p:sp>
      <p:sp>
        <p:nvSpPr>
          <p:cNvPr id="11" name="TextBox 10">
            <a:extLst>
              <a:ext uri="{FF2B5EF4-FFF2-40B4-BE49-F238E27FC236}">
                <a16:creationId xmlns:a16="http://schemas.microsoft.com/office/drawing/2014/main" id="{B750B900-7CF4-4E3A-B3A5-521E18CC1138}"/>
              </a:ext>
            </a:extLst>
          </p:cNvPr>
          <p:cNvSpPr txBox="1"/>
          <p:nvPr/>
        </p:nvSpPr>
        <p:spPr>
          <a:xfrm>
            <a:off x="104094" y="4306502"/>
            <a:ext cx="3524435" cy="1261884"/>
          </a:xfrm>
          <a:prstGeom prst="rect">
            <a:avLst/>
          </a:prstGeom>
          <a:noFill/>
        </p:spPr>
        <p:txBody>
          <a:bodyPr wrap="square" rtlCol="0">
            <a:spAutoFit/>
          </a:bodyPr>
          <a:lstStyle/>
          <a:p>
            <a:endParaRPr lang="en-IN" sz="1200" i="1" dirty="0">
              <a:solidFill>
                <a:schemeClr val="bg1"/>
              </a:solidFill>
            </a:endParaRPr>
          </a:p>
          <a:p>
            <a:endParaRPr lang="en-IN" sz="1200" i="1" dirty="0">
              <a:solidFill>
                <a:schemeClr val="bg1"/>
              </a:solidFill>
            </a:endParaRPr>
          </a:p>
          <a:p>
            <a:r>
              <a:rPr lang="en-IN" sz="1200" i="1" dirty="0">
                <a:solidFill>
                  <a:schemeClr val="bg1"/>
                </a:solidFill>
              </a:rPr>
              <a:t>Under the mentorship of,</a:t>
            </a:r>
          </a:p>
          <a:p>
            <a:r>
              <a:rPr lang="en-US" sz="1200" i="1" dirty="0">
                <a:solidFill>
                  <a:schemeClr val="bg1"/>
                </a:solidFill>
              </a:rPr>
              <a:t>M</a:t>
            </a:r>
            <a:r>
              <a:rPr lang="en-IN" sz="1200" i="1" dirty="0" err="1">
                <a:solidFill>
                  <a:schemeClr val="bg1"/>
                </a:solidFill>
              </a:rPr>
              <a:t>ainak</a:t>
            </a:r>
            <a:r>
              <a:rPr lang="en-IN" sz="1200" i="1" dirty="0">
                <a:solidFill>
                  <a:schemeClr val="bg1"/>
                </a:solidFill>
              </a:rPr>
              <a:t> Sir</a:t>
            </a:r>
          </a:p>
          <a:p>
            <a:endParaRPr lang="en-IN" dirty="0">
              <a:solidFill>
                <a:schemeClr val="bg1"/>
              </a:solidFill>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364822" y="867160"/>
            <a:ext cx="3009530" cy="21420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1600" b="1">
                <a:solidFill>
                  <a:srgbClr val="213163"/>
                </a:solidFill>
              </a:rPr>
              <a:t>Project Objectives</a:t>
            </a:r>
            <a:endParaRPr sz="1600"/>
          </a:p>
        </p:txBody>
      </p:sp>
      <p:pic>
        <p:nvPicPr>
          <p:cNvPr id="4" name="Picture 3">
            <a:extLst>
              <a:ext uri="{FF2B5EF4-FFF2-40B4-BE49-F238E27FC236}">
                <a16:creationId xmlns:a16="http://schemas.microsoft.com/office/drawing/2014/main" id="{FE6ACA23-A691-BBFF-54D8-448548EFD8C2}"/>
              </a:ext>
            </a:extLst>
          </p:cNvPr>
          <p:cNvPicPr>
            <a:picLocks noChangeAspect="1"/>
          </p:cNvPicPr>
          <p:nvPr/>
        </p:nvPicPr>
        <p:blipFill>
          <a:blip r:embed="rId3"/>
          <a:stretch>
            <a:fillRect/>
          </a:stretch>
        </p:blipFill>
        <p:spPr>
          <a:xfrm>
            <a:off x="5235375" y="1228377"/>
            <a:ext cx="3194940" cy="3194940"/>
          </a:xfrm>
          <a:prstGeom prst="rect">
            <a:avLst/>
          </a:prstGeom>
        </p:spPr>
      </p:pic>
      <p:sp>
        <p:nvSpPr>
          <p:cNvPr id="6" name="Google Shape;62;g5fab984687_2_0">
            <a:extLst>
              <a:ext uri="{FF2B5EF4-FFF2-40B4-BE49-F238E27FC236}">
                <a16:creationId xmlns:a16="http://schemas.microsoft.com/office/drawing/2014/main" id="{2C2DB4A5-624B-CADA-0A3F-8AADD412BC0C}"/>
              </a:ext>
            </a:extLst>
          </p:cNvPr>
          <p:cNvSpPr txBox="1">
            <a:spLocks/>
          </p:cNvSpPr>
          <p:nvPr/>
        </p:nvSpPr>
        <p:spPr>
          <a:xfrm>
            <a:off x="364822" y="1365005"/>
            <a:ext cx="3845164" cy="27719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82880" indent="-182880">
              <a:buFont typeface="Arial" panose="020B0604020202020204" pitchFamily="34" charset="0"/>
              <a:buChar char="•"/>
            </a:pPr>
            <a:r>
              <a:rPr lang="en-US" dirty="0"/>
              <a:t>Problem Statement</a:t>
            </a:r>
          </a:p>
          <a:p>
            <a:pPr marL="182880" indent="-182880">
              <a:buFont typeface="Arial" panose="020B0604020202020204" pitchFamily="34" charset="0"/>
              <a:buChar char="•"/>
            </a:pPr>
            <a:r>
              <a:rPr lang="en-US" dirty="0"/>
              <a:t>Project Overview – Introduction</a:t>
            </a:r>
          </a:p>
          <a:p>
            <a:pPr marL="182880" indent="-182880">
              <a:buFont typeface="Arial" panose="020B0604020202020204" pitchFamily="34" charset="0"/>
              <a:buChar char="•"/>
            </a:pPr>
            <a:r>
              <a:rPr lang="en-US" dirty="0"/>
              <a:t>End Users</a:t>
            </a:r>
          </a:p>
          <a:p>
            <a:pPr marL="182880" indent="-182880">
              <a:buFont typeface="Arial" panose="020B0604020202020204" pitchFamily="34" charset="0"/>
              <a:buChar char="•"/>
            </a:pPr>
            <a:r>
              <a:rPr lang="en-US" dirty="0"/>
              <a:t>Wow Factor in Project</a:t>
            </a:r>
          </a:p>
          <a:p>
            <a:pPr marL="182880" indent="-182880">
              <a:buFont typeface="Arial" panose="020B0604020202020204" pitchFamily="34" charset="0"/>
              <a:buChar char="•"/>
            </a:pPr>
            <a:r>
              <a:rPr lang="en-US" dirty="0"/>
              <a:t>Modelling/Block Diagram/Flow of Project</a:t>
            </a:r>
          </a:p>
          <a:p>
            <a:pPr marL="182880" indent="-182880">
              <a:buFont typeface="Arial" panose="020B0604020202020204" pitchFamily="34" charset="0"/>
              <a:buChar char="•"/>
            </a:pPr>
            <a:r>
              <a:rPr lang="en-US" dirty="0"/>
              <a:t>Result/outcomes</a:t>
            </a:r>
          </a:p>
          <a:p>
            <a:pPr marL="182880" indent="-182880">
              <a:buFont typeface="Arial" panose="020B0604020202020204" pitchFamily="34" charset="0"/>
              <a:buChar char="•"/>
            </a:pPr>
            <a:r>
              <a:rPr lang="en-US" dirty="0"/>
              <a:t>Conclusion</a:t>
            </a:r>
          </a:p>
          <a:p>
            <a:pPr marL="182880" indent="-182880">
              <a:buFont typeface="Arial" panose="020B0604020202020204" pitchFamily="34" charset="0"/>
              <a:buChar char="•"/>
            </a:pPr>
            <a:r>
              <a:rPr lang="en-US" dirty="0"/>
              <a:t>Future Perspective</a:t>
            </a:r>
          </a:p>
          <a:p>
            <a:pPr marL="182880" indent="-182880">
              <a:buFont typeface="Arial" panose="020B0604020202020204" pitchFamily="34" charset="0"/>
              <a:buChar char="•"/>
            </a:pPr>
            <a:endParaRPr lang="en-US"/>
          </a:p>
          <a:p>
            <a:pPr marL="182880" indent="-182880">
              <a:buFont typeface="Arial" panose="020B0604020202020204" pitchFamily="34" charset="0"/>
              <a:buChar char="•"/>
            </a:pPr>
            <a:endParaRPr lang="en-US"/>
          </a:p>
          <a:p>
            <a:pPr marL="182880" indent="-182880">
              <a:buFont typeface="Arial" panose="020B0604020202020204" pitchFamily="34" charset="0"/>
              <a:buChar char="•"/>
            </a:pPr>
            <a:endParaRPr lang="en-US"/>
          </a:p>
          <a:p>
            <a:pPr marL="182880" indent="-182880">
              <a:buFont typeface="Arial" panose="020B0604020202020204" pitchFamily="34" charset="0"/>
              <a:buChar char="•"/>
            </a:pPr>
            <a:endParaRPr lang="en-US"/>
          </a:p>
          <a:p>
            <a:pPr marL="182880" indent="-182880">
              <a:buFont typeface="Arial" panose="020B0604020202020204" pitchFamily="34" charset="0"/>
              <a:buChar char="•"/>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Problem Statement</a:t>
            </a:r>
          </a:p>
        </p:txBody>
      </p:sp>
      <p:sp>
        <p:nvSpPr>
          <p:cNvPr id="3" name="Rectangle 2"/>
          <p:cNvSpPr/>
          <p:nvPr/>
        </p:nvSpPr>
        <p:spPr>
          <a:xfrm>
            <a:off x="443344" y="1224599"/>
            <a:ext cx="7405255" cy="2246769"/>
          </a:xfrm>
          <a:prstGeom prst="rect">
            <a:avLst/>
          </a:prstGeom>
        </p:spPr>
        <p:txBody>
          <a:bodyPr wrap="square">
            <a:spAutoFit/>
          </a:bodyPr>
          <a:lstStyle/>
          <a:p>
            <a:pPr algn="just"/>
            <a:r>
              <a:rPr lang="en-US" dirty="0"/>
              <a:t>Blind and visually impaired individuals face significant challenges when navigating their surroundings due to their inability to see obstacles. This makes tasks like walking, crossing streets, or moving around unfamiliar areas dangerous and stressful. They often rely on canes or guide dogs, but these tools have limitations, such as not detecting objects at head height or far ahead.</a:t>
            </a:r>
          </a:p>
          <a:p>
            <a:pPr algn="just"/>
            <a:r>
              <a:rPr lang="en-US" dirty="0"/>
              <a:t>This lack of independence can impact their confidence and quality of life, as they may feel unsafe or dependent on others. There is a need for an affordable and reliable solution, like object detection systems, which can help these individuals identify obstacles in their path and navigate more safely. Such solutions would promote greater autonomy and improve their overall well-being.</a:t>
            </a:r>
          </a:p>
        </p:txBody>
      </p:sp>
    </p:spTree>
    <p:extLst>
      <p:ext uri="{BB962C8B-B14F-4D97-AF65-F5344CB8AC3E}">
        <p14:creationId xmlns:p14="http://schemas.microsoft.com/office/powerpoint/2010/main" val="1607993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Project overview - Introduction</a:t>
            </a:r>
          </a:p>
        </p:txBody>
      </p:sp>
      <p:sp>
        <p:nvSpPr>
          <p:cNvPr id="3" name="Rectangle 2"/>
          <p:cNvSpPr/>
          <p:nvPr/>
        </p:nvSpPr>
        <p:spPr>
          <a:xfrm>
            <a:off x="304799" y="1067689"/>
            <a:ext cx="8139546" cy="2462213"/>
          </a:xfrm>
          <a:prstGeom prst="rect">
            <a:avLst/>
          </a:prstGeom>
        </p:spPr>
        <p:txBody>
          <a:bodyPr wrap="square">
            <a:spAutoFit/>
          </a:bodyPr>
          <a:lstStyle/>
          <a:p>
            <a:pPr algn="just"/>
            <a:r>
              <a:rPr lang="en-US" dirty="0"/>
              <a:t>Our project is focused on developing an object detection system specifically designed for blind and visually impaired individuals. The system uses advanced sensors, such as ultrasonic or infrared, to detect obstacles in front of the user. Once an obstacle is identified, the system provides real-time voice-based alerts, notifying the user of potential hazards in their path. This voice feedback ensures that users can be aware of obstacles at different heights and distances, helping them avoid collisions effectively.</a:t>
            </a:r>
          </a:p>
          <a:p>
            <a:pPr algn="just"/>
            <a:r>
              <a:rPr lang="en-US" dirty="0"/>
              <a:t>The system is designed to be user-friendly, ensuring that it is easy to use and accessible even for individuals with limited technological experience. By providing timely alerts, it enhances the user’s ability to navigate safely and confidently, improving their mobility and fostering a sense of independence. Ultimately, the project aims to reduce the risks associated with navigating unfamiliar environments, enabling blind individuals to move around more freely and safely.</a:t>
            </a:r>
          </a:p>
        </p:txBody>
      </p:sp>
    </p:spTree>
    <p:extLst>
      <p:ext uri="{BB962C8B-B14F-4D97-AF65-F5344CB8AC3E}">
        <p14:creationId xmlns:p14="http://schemas.microsoft.com/office/powerpoint/2010/main" val="376441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End User</a:t>
            </a:r>
          </a:p>
        </p:txBody>
      </p:sp>
      <p:sp>
        <p:nvSpPr>
          <p:cNvPr id="3" name="Rectangle 2"/>
          <p:cNvSpPr/>
          <p:nvPr/>
        </p:nvSpPr>
        <p:spPr>
          <a:xfrm>
            <a:off x="360218" y="1166442"/>
            <a:ext cx="6788727" cy="1749005"/>
          </a:xfrm>
          <a:prstGeom prst="rect">
            <a:avLst/>
          </a:prstGeom>
        </p:spPr>
        <p:txBody>
          <a:bodyPr wrap="square">
            <a:spAutoFit/>
          </a:bodyPr>
          <a:lstStyle/>
          <a:p>
            <a:pPr>
              <a:lnSpc>
                <a:spcPct val="200000"/>
              </a:lnSpc>
            </a:pPr>
            <a:r>
              <a:rPr lang="en-US" dirty="0"/>
              <a:t>•Visually impaired and blind individuals.</a:t>
            </a:r>
          </a:p>
          <a:p>
            <a:pPr>
              <a:lnSpc>
                <a:spcPct val="200000"/>
              </a:lnSpc>
            </a:pPr>
            <a:r>
              <a:rPr lang="en-US" dirty="0"/>
              <a:t>•NGOs and organizations working for the differently-</a:t>
            </a:r>
            <a:r>
              <a:rPr lang="en-US" dirty="0" err="1"/>
              <a:t>abled</a:t>
            </a:r>
            <a:r>
              <a:rPr lang="en-US" dirty="0"/>
              <a:t>.</a:t>
            </a:r>
          </a:p>
          <a:p>
            <a:pPr>
              <a:lnSpc>
                <a:spcPct val="200000"/>
              </a:lnSpc>
            </a:pPr>
            <a:r>
              <a:rPr lang="en-US" dirty="0"/>
              <a:t>•Special schools and rehabilitation centers. </a:t>
            </a:r>
          </a:p>
          <a:p>
            <a:pPr>
              <a:lnSpc>
                <a:spcPct val="200000"/>
              </a:lnSpc>
            </a:pPr>
            <a:r>
              <a:rPr lang="en-US" dirty="0"/>
              <a:t>•Government and private agencies focusing on accessible technologies. </a:t>
            </a:r>
          </a:p>
        </p:txBody>
      </p:sp>
    </p:spTree>
    <p:extLst>
      <p:ext uri="{BB962C8B-B14F-4D97-AF65-F5344CB8AC3E}">
        <p14:creationId xmlns:p14="http://schemas.microsoft.com/office/powerpoint/2010/main" val="1119326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Wow Factor in Solution</a:t>
            </a:r>
          </a:p>
        </p:txBody>
      </p:sp>
      <p:sp>
        <p:nvSpPr>
          <p:cNvPr id="3" name="Rectangle 2"/>
          <p:cNvSpPr/>
          <p:nvPr/>
        </p:nvSpPr>
        <p:spPr>
          <a:xfrm>
            <a:off x="422563" y="1151889"/>
            <a:ext cx="6948055" cy="2246769"/>
          </a:xfrm>
          <a:prstGeom prst="rect">
            <a:avLst/>
          </a:prstGeom>
        </p:spPr>
        <p:txBody>
          <a:bodyPr wrap="square">
            <a:spAutoFit/>
          </a:bodyPr>
          <a:lstStyle/>
          <a:p>
            <a:pPr>
              <a:lnSpc>
                <a:spcPct val="200000"/>
              </a:lnSpc>
            </a:pPr>
            <a:r>
              <a:rPr lang="en-US" dirty="0"/>
              <a:t>•Compact and wearable design. </a:t>
            </a:r>
          </a:p>
          <a:p>
            <a:pPr>
              <a:lnSpc>
                <a:spcPct val="200000"/>
              </a:lnSpc>
            </a:pPr>
            <a:r>
              <a:rPr lang="en-US" dirty="0"/>
              <a:t>•Real-time detection using sensors. </a:t>
            </a:r>
          </a:p>
          <a:p>
            <a:pPr>
              <a:lnSpc>
                <a:spcPct val="200000"/>
              </a:lnSpc>
            </a:pPr>
            <a:r>
              <a:rPr lang="en-US" dirty="0"/>
              <a:t>•Affordable solution that can be made widely available. </a:t>
            </a:r>
          </a:p>
          <a:p>
            <a:pPr>
              <a:lnSpc>
                <a:spcPct val="200000"/>
              </a:lnSpc>
            </a:pPr>
            <a:r>
              <a:rPr lang="en-US" dirty="0"/>
              <a:t>•Voice guidance system that speaks the direction and distance of obstacles. </a:t>
            </a:r>
          </a:p>
          <a:p>
            <a:pPr>
              <a:lnSpc>
                <a:spcPct val="200000"/>
              </a:lnSpc>
            </a:pPr>
            <a:r>
              <a:rPr lang="en-US" dirty="0"/>
              <a:t>•Potential to integrate with SAP for user data analysis or service requests (if applied). </a:t>
            </a:r>
          </a:p>
        </p:txBody>
      </p:sp>
    </p:spTree>
    <p:extLst>
      <p:ext uri="{BB962C8B-B14F-4D97-AF65-F5344CB8AC3E}">
        <p14:creationId xmlns:p14="http://schemas.microsoft.com/office/powerpoint/2010/main" val="3874308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Modelling</a:t>
            </a:r>
          </a:p>
        </p:txBody>
      </p:sp>
      <p:pic>
        <p:nvPicPr>
          <p:cNvPr id="4" name="Picture 3">
            <a:extLst>
              <a:ext uri="{FF2B5EF4-FFF2-40B4-BE49-F238E27FC236}">
                <a16:creationId xmlns:a16="http://schemas.microsoft.com/office/drawing/2014/main" id="{5DD6DA0F-61F8-F8EB-E39E-DFB7EA85B4FA}"/>
              </a:ext>
            </a:extLst>
          </p:cNvPr>
          <p:cNvPicPr>
            <a:picLocks noChangeAspect="1"/>
          </p:cNvPicPr>
          <p:nvPr/>
        </p:nvPicPr>
        <p:blipFill>
          <a:blip r:embed="rId2"/>
          <a:stretch>
            <a:fillRect/>
          </a:stretch>
        </p:blipFill>
        <p:spPr>
          <a:xfrm>
            <a:off x="2000251" y="438149"/>
            <a:ext cx="4683048" cy="468304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595609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dirty="0">
                <a:solidFill>
                  <a:srgbClr val="002060"/>
                </a:solidFill>
              </a:rPr>
              <a:t>Result / Outcomes</a:t>
            </a:r>
            <a:endParaRPr lang="en-US" dirty="0"/>
          </a:p>
        </p:txBody>
      </p:sp>
      <p:sp>
        <p:nvSpPr>
          <p:cNvPr id="4" name="Rectangle 3"/>
          <p:cNvSpPr/>
          <p:nvPr/>
        </p:nvSpPr>
        <p:spPr>
          <a:xfrm>
            <a:off x="574963" y="1211121"/>
            <a:ext cx="6788727" cy="2179892"/>
          </a:xfrm>
          <a:prstGeom prst="rect">
            <a:avLst/>
          </a:prstGeom>
        </p:spPr>
        <p:txBody>
          <a:bodyPr wrap="square">
            <a:spAutoFit/>
          </a:bodyPr>
          <a:lstStyle/>
          <a:p>
            <a:pPr>
              <a:lnSpc>
                <a:spcPct val="200000"/>
              </a:lnSpc>
            </a:pPr>
            <a:r>
              <a:rPr lang="en-US" dirty="0"/>
              <a:t>•Successfully created a working prototype. </a:t>
            </a:r>
          </a:p>
          <a:p>
            <a:pPr>
              <a:lnSpc>
                <a:spcPct val="200000"/>
              </a:lnSpc>
            </a:pPr>
            <a:r>
              <a:rPr lang="en-US" dirty="0"/>
              <a:t>•The system can detect objects. </a:t>
            </a:r>
          </a:p>
          <a:p>
            <a:pPr>
              <a:lnSpc>
                <a:spcPct val="200000"/>
              </a:lnSpc>
            </a:pPr>
            <a:r>
              <a:rPr lang="en-US" dirty="0"/>
              <a:t>•Audio feedback is given in less than 1 second after detection. </a:t>
            </a:r>
          </a:p>
          <a:p>
            <a:pPr>
              <a:lnSpc>
                <a:spcPct val="200000"/>
              </a:lnSpc>
            </a:pPr>
            <a:r>
              <a:rPr lang="en-US" dirty="0"/>
              <a:t>•Tested in real-life scenarios with positive results. </a:t>
            </a:r>
          </a:p>
          <a:p>
            <a:pPr>
              <a:lnSpc>
                <a:spcPct val="200000"/>
              </a:lnSpc>
            </a:pPr>
            <a:r>
              <a:rPr lang="en-US" dirty="0"/>
              <a:t>•Can be improved further with GPS or camera integration.</a:t>
            </a:r>
          </a:p>
        </p:txBody>
      </p:sp>
    </p:spTree>
    <p:extLst>
      <p:ext uri="{BB962C8B-B14F-4D97-AF65-F5344CB8AC3E}">
        <p14:creationId xmlns:p14="http://schemas.microsoft.com/office/powerpoint/2010/main" val="201607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Conclusion</a:t>
            </a:r>
          </a:p>
        </p:txBody>
      </p:sp>
      <p:sp>
        <p:nvSpPr>
          <p:cNvPr id="3" name="Rectangle 2"/>
          <p:cNvSpPr/>
          <p:nvPr/>
        </p:nvSpPr>
        <p:spPr>
          <a:xfrm>
            <a:off x="581891" y="1129145"/>
            <a:ext cx="6878782" cy="1345048"/>
          </a:xfrm>
          <a:prstGeom prst="rect">
            <a:avLst/>
          </a:prstGeom>
        </p:spPr>
        <p:txBody>
          <a:bodyPr wrap="square">
            <a:spAutoFit/>
          </a:bodyPr>
          <a:lstStyle/>
          <a:p>
            <a:pPr>
              <a:lnSpc>
                <a:spcPct val="150000"/>
              </a:lnSpc>
            </a:pPr>
            <a:r>
              <a:rPr lang="en-US" dirty="0"/>
              <a:t>This project provides an effective solution for helping blind people move safely by detecting obstacles and giving audio warnings. It increases their confidence and independence. The system is simple, portable, and low-cost, making it a great choice for assistive technology.</a:t>
            </a:r>
          </a:p>
        </p:txBody>
      </p:sp>
    </p:spTree>
    <p:extLst>
      <p:ext uri="{BB962C8B-B14F-4D97-AF65-F5344CB8AC3E}">
        <p14:creationId xmlns:p14="http://schemas.microsoft.com/office/powerpoint/2010/main" val="1730388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EAFC-3A57-AD7E-8CB9-F8A9F0B4D8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EABD15-8138-43E4-DD67-E9ECE24A5AEE}"/>
              </a:ext>
            </a:extLst>
          </p:cNvPr>
          <p:cNvSpPr>
            <a:spLocks noGrp="1"/>
          </p:cNvSpPr>
          <p:nvPr>
            <p:ph type="title"/>
          </p:nvPr>
        </p:nvSpPr>
        <p:spPr/>
        <p:txBody>
          <a:bodyPr/>
          <a:lstStyle/>
          <a:p>
            <a:r>
              <a:rPr lang="en-IN" sz="2400">
                <a:solidFill>
                  <a:srgbClr val="002060"/>
                </a:solidFill>
              </a:rPr>
              <a:t>Future Perspective</a:t>
            </a:r>
          </a:p>
        </p:txBody>
      </p:sp>
      <p:sp>
        <p:nvSpPr>
          <p:cNvPr id="3" name="Rectangle 2"/>
          <p:cNvSpPr/>
          <p:nvPr/>
        </p:nvSpPr>
        <p:spPr>
          <a:xfrm>
            <a:off x="436418" y="989448"/>
            <a:ext cx="4572000" cy="2179892"/>
          </a:xfrm>
          <a:prstGeom prst="rect">
            <a:avLst/>
          </a:prstGeom>
        </p:spPr>
        <p:txBody>
          <a:bodyPr>
            <a:spAutoFit/>
          </a:bodyPr>
          <a:lstStyle/>
          <a:p>
            <a:pPr>
              <a:lnSpc>
                <a:spcPct val="200000"/>
              </a:lnSpc>
            </a:pPr>
            <a:r>
              <a:rPr lang="en-US" dirty="0"/>
              <a:t>•Add GPS for location tracking and navigation. </a:t>
            </a:r>
          </a:p>
          <a:p>
            <a:pPr>
              <a:lnSpc>
                <a:spcPct val="200000"/>
              </a:lnSpc>
            </a:pPr>
            <a:r>
              <a:rPr lang="en-US" dirty="0"/>
              <a:t>•Use machine learning for advanced object recognition. •Make it compatible with </a:t>
            </a:r>
            <a:r>
              <a:rPr lang="en-US" dirty="0" err="1"/>
              <a:t>smartphones</a:t>
            </a:r>
            <a:r>
              <a:rPr lang="en-US" dirty="0"/>
              <a:t>. </a:t>
            </a:r>
          </a:p>
          <a:p>
            <a:pPr>
              <a:lnSpc>
                <a:spcPct val="200000"/>
              </a:lnSpc>
            </a:pPr>
            <a:r>
              <a:rPr lang="en-US" dirty="0"/>
              <a:t>•Mass production for real-world use. </a:t>
            </a:r>
          </a:p>
          <a:p>
            <a:pPr>
              <a:lnSpc>
                <a:spcPct val="200000"/>
              </a:lnSpc>
            </a:pPr>
            <a:r>
              <a:rPr lang="en-US" dirty="0"/>
              <a:t>•Collaboration with NGOs and government schemes.</a:t>
            </a:r>
          </a:p>
        </p:txBody>
      </p:sp>
    </p:spTree>
    <p:extLst>
      <p:ext uri="{BB962C8B-B14F-4D97-AF65-F5344CB8AC3E}">
        <p14:creationId xmlns:p14="http://schemas.microsoft.com/office/powerpoint/2010/main" val="2733696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371653C-5A59-55AF-7592-1B7D2CA0BEA9}"/>
              </a:ext>
            </a:extLst>
          </p:cNvPr>
          <p:cNvSpPr txBox="1"/>
          <p:nvPr/>
        </p:nvSpPr>
        <p:spPr>
          <a:xfrm>
            <a:off x="3166669" y="2193074"/>
            <a:ext cx="2810662" cy="46645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2500" kern="1200">
                <a:solidFill>
                  <a:schemeClr val="tx1"/>
                </a:solidFill>
                <a:latin typeface="Arial" panose="020B0604020202020204" pitchFamily="34" charset="0"/>
                <a:ea typeface="+mj-ea"/>
                <a:cs typeface="Arial" panose="020B0604020202020204" pitchFamily="34" charset="0"/>
              </a:rPr>
              <a:t>Thank you...!</a:t>
            </a:r>
          </a:p>
        </p:txBody>
      </p:sp>
    </p:spTree>
    <p:extLst>
      <p:ext uri="{BB962C8B-B14F-4D97-AF65-F5344CB8AC3E}">
        <p14:creationId xmlns:p14="http://schemas.microsoft.com/office/powerpoint/2010/main" val="325770188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120</TotalTime>
  <Words>584</Words>
  <Application>Microsoft Office PowerPoint</Application>
  <PresentationFormat>On-screen Show (16:9)</PresentationFormat>
  <Paragraphs>55</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Simple Light</vt:lpstr>
      <vt:lpstr>PowerPoint Presentation</vt:lpstr>
      <vt:lpstr>Project Objectives</vt:lpstr>
      <vt:lpstr>Problem Statement</vt:lpstr>
      <vt:lpstr>Project overview - Introduction</vt:lpstr>
      <vt:lpstr>End User</vt:lpstr>
      <vt:lpstr>Wow Factor in Solution</vt:lpstr>
      <vt:lpstr>Modelling</vt:lpstr>
      <vt:lpstr>Result / Outcomes</vt:lpstr>
      <vt:lpstr>Conclusion</vt:lpstr>
      <vt:lpstr>Future Perspective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Mohammed Rasool _07</cp:lastModifiedBy>
  <cp:revision>16</cp:revision>
  <dcterms:modified xsi:type="dcterms:W3CDTF">2025-04-24T08:34:08Z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